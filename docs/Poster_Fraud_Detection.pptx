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</p:sldIdLst>
  <p:sldSz cx="30238700" cy="42767250"/>
  <p:notesSz cx="6858000" cy="9144000"/>
  <p:defaultTextStyle>
    <a:defPPr>
      <a:defRPr lang="en-US"/>
    </a:defPPr>
    <a:lvl1pPr marL="0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5884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1767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57651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3534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29418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15301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01185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87068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0">
          <p15:clr>
            <a:srgbClr val="A4A3A4"/>
          </p15:clr>
        </p15:guide>
        <p15:guide id="2" pos="95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726"/>
    <a:srgbClr val="FBCD6B"/>
    <a:srgbClr val="E64626"/>
    <a:srgbClr val="12416C"/>
    <a:srgbClr val="272727"/>
    <a:srgbClr val="CE1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10665-159F-4A45-95AD-FFCA342438EC}" v="1" dt="2026-09-09T10:33:49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1"/>
  </p:normalViewPr>
  <p:slideViewPr>
    <p:cSldViewPr snapToGrid="0">
      <p:cViewPr>
        <p:scale>
          <a:sx n="49" d="100"/>
          <a:sy n="49" d="100"/>
        </p:scale>
        <p:origin x="-88" y="-7992"/>
      </p:cViewPr>
      <p:guideLst>
        <p:guide orient="horz" pos="13470"/>
        <p:guide pos="95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Polash" userId="f466a468-4839-4693-a2c9-28c32928defd" providerId="ADAL" clId="{EDCF3755-7808-44FC-B992-6205FEB51B2F}"/>
    <pc:docChg chg="custSel modSld">
      <pc:chgData name="Mohammad Polash" userId="f466a468-4839-4693-a2c9-28c32928defd" providerId="ADAL" clId="{EDCF3755-7808-44FC-B992-6205FEB51B2F}" dt="2026-09-09T10:34:57.605" v="451" actId="20577"/>
      <pc:docMkLst>
        <pc:docMk/>
      </pc:docMkLst>
      <pc:sldChg chg="addSp delSp modSp mod">
        <pc:chgData name="Mohammad Polash" userId="f466a468-4839-4693-a2c9-28c32928defd" providerId="ADAL" clId="{EDCF3755-7808-44FC-B992-6205FEB51B2F}" dt="2026-09-09T10:34:57.605" v="451" actId="20577"/>
        <pc:sldMkLst>
          <pc:docMk/>
          <pc:sldMk cId="1171453620" sldId="269"/>
        </pc:sldMkLst>
        <pc:spChg chg="add mod">
          <ac:chgData name="Mohammad Polash" userId="f466a468-4839-4693-a2c9-28c32928defd" providerId="ADAL" clId="{EDCF3755-7808-44FC-B992-6205FEB51B2F}" dt="2026-09-09T10:34:57.605" v="451" actId="20577"/>
          <ac:spMkLst>
            <pc:docMk/>
            <pc:sldMk cId="1171453620" sldId="269"/>
            <ac:spMk id="2" creationId="{D1E1FB22-D6E3-7AEB-3FA7-101E5195C571}"/>
          </ac:spMkLst>
        </pc:spChg>
        <pc:spChg chg="mod">
          <ac:chgData name="Mohammad Polash" userId="f466a468-4839-4693-a2c9-28c32928defd" providerId="ADAL" clId="{EDCF3755-7808-44FC-B992-6205FEB51B2F}" dt="2026-09-09T10:33:35.344" v="381" actId="6549"/>
          <ac:spMkLst>
            <pc:docMk/>
            <pc:sldMk cId="1171453620" sldId="269"/>
            <ac:spMk id="5" creationId="{9CB5956D-79D0-1E37-F408-C318B991AD9A}"/>
          </ac:spMkLst>
        </pc:spChg>
        <pc:spChg chg="del">
          <ac:chgData name="Mohammad Polash" userId="f466a468-4839-4693-a2c9-28c32928defd" providerId="ADAL" clId="{EDCF3755-7808-44FC-B992-6205FEB51B2F}" dt="2026-09-09T10:33:13.615" v="373" actId="478"/>
          <ac:spMkLst>
            <pc:docMk/>
            <pc:sldMk cId="1171453620" sldId="269"/>
            <ac:spMk id="6" creationId="{BFFAD7B3-44D7-D629-93BB-0CBF95F0F23C}"/>
          </ac:spMkLst>
        </pc:spChg>
        <pc:spChg chg="del">
          <ac:chgData name="Mohammad Polash" userId="f466a468-4839-4693-a2c9-28c32928defd" providerId="ADAL" clId="{EDCF3755-7808-44FC-B992-6205FEB51B2F}" dt="2026-09-09T10:33:18.515" v="374" actId="478"/>
          <ac:spMkLst>
            <pc:docMk/>
            <pc:sldMk cId="1171453620" sldId="269"/>
            <ac:spMk id="17" creationId="{AAF8D3A5-307E-A270-9A7C-9CE8AE00FB3E}"/>
          </ac:spMkLst>
        </pc:spChg>
        <pc:spChg chg="mod">
          <ac:chgData name="Mohammad Polash" userId="f466a468-4839-4693-a2c9-28c32928defd" providerId="ADAL" clId="{EDCF3755-7808-44FC-B992-6205FEB51B2F}" dt="2026-09-09T10:32:55.417" v="343" actId="20577"/>
          <ac:spMkLst>
            <pc:docMk/>
            <pc:sldMk cId="1171453620" sldId="269"/>
            <ac:spMk id="60" creationId="{E3672748-11D1-1608-695E-DCB8AAD6246F}"/>
          </ac:spMkLst>
        </pc:spChg>
        <pc:picChg chg="del">
          <ac:chgData name="Mohammad Polash" userId="f466a468-4839-4693-a2c9-28c32928defd" providerId="ADAL" clId="{EDCF3755-7808-44FC-B992-6205FEB51B2F}" dt="2026-09-09T10:33:22.929" v="376" actId="478"/>
          <ac:picMkLst>
            <pc:docMk/>
            <pc:sldMk cId="1171453620" sldId="269"/>
            <ac:picMk id="3" creationId="{32D5A37C-5D81-F3DF-2D42-DEE53AA684EE}"/>
          </ac:picMkLst>
        </pc:picChg>
        <pc:picChg chg="del">
          <ac:chgData name="Mohammad Polash" userId="f466a468-4839-4693-a2c9-28c32928defd" providerId="ADAL" clId="{EDCF3755-7808-44FC-B992-6205FEB51B2F}" dt="2026-09-09T10:33:21.106" v="375" actId="478"/>
          <ac:picMkLst>
            <pc:docMk/>
            <pc:sldMk cId="1171453620" sldId="269"/>
            <ac:picMk id="8" creationId="{CF3C0741-DFAD-4916-66C8-61909F71D028}"/>
          </ac:picMkLst>
        </pc:picChg>
        <pc:picChg chg="del">
          <ac:chgData name="Mohammad Polash" userId="f466a468-4839-4693-a2c9-28c32928defd" providerId="ADAL" clId="{EDCF3755-7808-44FC-B992-6205FEB51B2F}" dt="2026-09-09T10:33:24.741" v="377" actId="478"/>
          <ac:picMkLst>
            <pc:docMk/>
            <pc:sldMk cId="1171453620" sldId="269"/>
            <ac:picMk id="10" creationId="{1DF6B3A2-96DB-C938-EEF1-B6C2C64D905F}"/>
          </ac:picMkLst>
        </pc:picChg>
        <pc:picChg chg="del">
          <ac:chgData name="Mohammad Polash" userId="f466a468-4839-4693-a2c9-28c32928defd" providerId="ADAL" clId="{EDCF3755-7808-44FC-B992-6205FEB51B2F}" dt="2026-09-09T10:33:26.475" v="378" actId="478"/>
          <ac:picMkLst>
            <pc:docMk/>
            <pc:sldMk cId="1171453620" sldId="269"/>
            <ac:picMk id="13" creationId="{FF31CDC4-C4CA-6CA0-70AC-F02708907545}"/>
          </ac:picMkLst>
        </pc:picChg>
        <pc:picChg chg="del">
          <ac:chgData name="Mohammad Polash" userId="f466a468-4839-4693-a2c9-28c32928defd" providerId="ADAL" clId="{EDCF3755-7808-44FC-B992-6205FEB51B2F}" dt="2026-09-09T10:33:28.113" v="379" actId="478"/>
          <ac:picMkLst>
            <pc:docMk/>
            <pc:sldMk cId="1171453620" sldId="269"/>
            <ac:picMk id="15" creationId="{26DF8C3B-438E-A68A-F564-5E1BA05B2F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7903" y="13285572"/>
            <a:ext cx="25702895" cy="9167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5806" y="24234774"/>
            <a:ext cx="21167090" cy="1092940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5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1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57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43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29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15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01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87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649" y="27481922"/>
            <a:ext cx="25702895" cy="8494051"/>
          </a:xfrm>
        </p:spPr>
        <p:txBody>
          <a:bodyPr anchor="t"/>
          <a:lstStyle>
            <a:lvl1pPr algn="l">
              <a:defRPr sz="18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8649" y="18126590"/>
            <a:ext cx="25702895" cy="9355332"/>
          </a:xfrm>
        </p:spPr>
        <p:txBody>
          <a:bodyPr anchor="b"/>
          <a:lstStyle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85884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1767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57651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4353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2941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15301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01185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68706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1448" y="44004736"/>
            <a:ext cx="63391023" cy="124440817"/>
          </a:xfrm>
        </p:spPr>
        <p:txBody>
          <a:bodyPr/>
          <a:lstStyle>
            <a:lvl1pPr>
              <a:defRPr sz="12800"/>
            </a:lvl1pPr>
            <a:lvl2pPr>
              <a:defRPr sz="109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66451" y="44004736"/>
            <a:ext cx="63391026" cy="124440817"/>
          </a:xfrm>
        </p:spPr>
        <p:txBody>
          <a:bodyPr/>
          <a:lstStyle>
            <a:lvl1pPr>
              <a:defRPr sz="12800"/>
            </a:lvl1pPr>
            <a:lvl2pPr>
              <a:defRPr sz="109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36" y="1712673"/>
            <a:ext cx="27214830" cy="71278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935" y="9573135"/>
            <a:ext cx="13360677" cy="3989628"/>
          </a:xfrm>
        </p:spPr>
        <p:txBody>
          <a:bodyPr anchor="b"/>
          <a:lstStyle>
            <a:lvl1pPr marL="0" indent="0">
              <a:buNone/>
              <a:defRPr sz="10900" b="1"/>
            </a:lvl1pPr>
            <a:lvl2pPr marL="2085884" indent="0">
              <a:buNone/>
              <a:defRPr sz="9100" b="1"/>
            </a:lvl2pPr>
            <a:lvl3pPr marL="4171767" indent="0">
              <a:buNone/>
              <a:defRPr sz="8200" b="1"/>
            </a:lvl3pPr>
            <a:lvl4pPr marL="6257651" indent="0">
              <a:buNone/>
              <a:defRPr sz="7300" b="1"/>
            </a:lvl4pPr>
            <a:lvl5pPr marL="8343534" indent="0">
              <a:buNone/>
              <a:defRPr sz="7300" b="1"/>
            </a:lvl5pPr>
            <a:lvl6pPr marL="10429418" indent="0">
              <a:buNone/>
              <a:defRPr sz="7300" b="1"/>
            </a:lvl6pPr>
            <a:lvl7pPr marL="12515301" indent="0">
              <a:buNone/>
              <a:defRPr sz="7300" b="1"/>
            </a:lvl7pPr>
            <a:lvl8pPr marL="14601185" indent="0">
              <a:buNone/>
              <a:defRPr sz="7300" b="1"/>
            </a:lvl8pPr>
            <a:lvl9pPr marL="16687068" indent="0">
              <a:buNone/>
              <a:defRPr sz="7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935" y="13562763"/>
            <a:ext cx="13360677" cy="24640671"/>
          </a:xfrm>
        </p:spPr>
        <p:txBody>
          <a:bodyPr/>
          <a:lstStyle>
            <a:lvl1pPr>
              <a:defRPr sz="109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60842" y="9573135"/>
            <a:ext cx="13365925" cy="3989628"/>
          </a:xfrm>
        </p:spPr>
        <p:txBody>
          <a:bodyPr anchor="b"/>
          <a:lstStyle>
            <a:lvl1pPr marL="0" indent="0">
              <a:buNone/>
              <a:defRPr sz="10900" b="1"/>
            </a:lvl1pPr>
            <a:lvl2pPr marL="2085884" indent="0">
              <a:buNone/>
              <a:defRPr sz="9100" b="1"/>
            </a:lvl2pPr>
            <a:lvl3pPr marL="4171767" indent="0">
              <a:buNone/>
              <a:defRPr sz="8200" b="1"/>
            </a:lvl3pPr>
            <a:lvl4pPr marL="6257651" indent="0">
              <a:buNone/>
              <a:defRPr sz="7300" b="1"/>
            </a:lvl4pPr>
            <a:lvl5pPr marL="8343534" indent="0">
              <a:buNone/>
              <a:defRPr sz="7300" b="1"/>
            </a:lvl5pPr>
            <a:lvl6pPr marL="10429418" indent="0">
              <a:buNone/>
              <a:defRPr sz="7300" b="1"/>
            </a:lvl6pPr>
            <a:lvl7pPr marL="12515301" indent="0">
              <a:buNone/>
              <a:defRPr sz="7300" b="1"/>
            </a:lvl7pPr>
            <a:lvl8pPr marL="14601185" indent="0">
              <a:buNone/>
              <a:defRPr sz="7300" b="1"/>
            </a:lvl8pPr>
            <a:lvl9pPr marL="16687068" indent="0">
              <a:buNone/>
              <a:defRPr sz="7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60842" y="13562763"/>
            <a:ext cx="13365925" cy="24640671"/>
          </a:xfrm>
        </p:spPr>
        <p:txBody>
          <a:bodyPr/>
          <a:lstStyle>
            <a:lvl1pPr>
              <a:defRPr sz="109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37" y="1702770"/>
            <a:ext cx="9948324" cy="7246673"/>
          </a:xfr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2492" y="1702774"/>
            <a:ext cx="16904273" cy="36500663"/>
          </a:xfrm>
        </p:spPr>
        <p:txBody>
          <a:bodyPr/>
          <a:lstStyle>
            <a:lvl1pPr>
              <a:defRPr sz="14600"/>
            </a:lvl1pPr>
            <a:lvl2pPr>
              <a:defRPr sz="12800"/>
            </a:lvl2pPr>
            <a:lvl3pPr>
              <a:defRPr sz="10900"/>
            </a:lvl3pPr>
            <a:lvl4pPr>
              <a:defRPr sz="9100"/>
            </a:lvl4pPr>
            <a:lvl5pPr>
              <a:defRPr sz="9100"/>
            </a:lvl5pPr>
            <a:lvl6pPr>
              <a:defRPr sz="9100"/>
            </a:lvl6pPr>
            <a:lvl7pPr>
              <a:defRPr sz="9100"/>
            </a:lvl7pPr>
            <a:lvl8pPr>
              <a:defRPr sz="9100"/>
            </a:lvl8pPr>
            <a:lvl9pPr>
              <a:defRPr sz="9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937" y="8949447"/>
            <a:ext cx="9948324" cy="29253990"/>
          </a:xfrm>
        </p:spPr>
        <p:txBody>
          <a:bodyPr/>
          <a:lstStyle>
            <a:lvl1pPr marL="0" indent="0">
              <a:buNone/>
              <a:defRPr sz="6400"/>
            </a:lvl1pPr>
            <a:lvl2pPr marL="2085884" indent="0">
              <a:buNone/>
              <a:defRPr sz="5500"/>
            </a:lvl2pPr>
            <a:lvl3pPr marL="4171767" indent="0">
              <a:buNone/>
              <a:defRPr sz="4600"/>
            </a:lvl3pPr>
            <a:lvl4pPr marL="6257651" indent="0">
              <a:buNone/>
              <a:defRPr sz="4100"/>
            </a:lvl4pPr>
            <a:lvl5pPr marL="8343534" indent="0">
              <a:buNone/>
              <a:defRPr sz="4100"/>
            </a:lvl5pPr>
            <a:lvl6pPr marL="10429418" indent="0">
              <a:buNone/>
              <a:defRPr sz="4100"/>
            </a:lvl6pPr>
            <a:lvl7pPr marL="12515301" indent="0">
              <a:buNone/>
              <a:defRPr sz="4100"/>
            </a:lvl7pPr>
            <a:lvl8pPr marL="14601185" indent="0">
              <a:buNone/>
              <a:defRPr sz="4100"/>
            </a:lvl8pPr>
            <a:lvl9pPr marL="16687068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97" y="29937076"/>
            <a:ext cx="18143220" cy="3534241"/>
          </a:xfr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26997" y="3821333"/>
            <a:ext cx="18143220" cy="25660350"/>
          </a:xfrm>
        </p:spPr>
        <p:txBody>
          <a:bodyPr/>
          <a:lstStyle>
            <a:lvl1pPr marL="0" indent="0">
              <a:buNone/>
              <a:defRPr sz="14600"/>
            </a:lvl1pPr>
            <a:lvl2pPr marL="2085884" indent="0">
              <a:buNone/>
              <a:defRPr sz="12800"/>
            </a:lvl2pPr>
            <a:lvl3pPr marL="4171767" indent="0">
              <a:buNone/>
              <a:defRPr sz="10900"/>
            </a:lvl3pPr>
            <a:lvl4pPr marL="6257651" indent="0">
              <a:buNone/>
              <a:defRPr sz="9100"/>
            </a:lvl4pPr>
            <a:lvl5pPr marL="8343534" indent="0">
              <a:buNone/>
              <a:defRPr sz="9100"/>
            </a:lvl5pPr>
            <a:lvl6pPr marL="10429418" indent="0">
              <a:buNone/>
              <a:defRPr sz="9100"/>
            </a:lvl6pPr>
            <a:lvl7pPr marL="12515301" indent="0">
              <a:buNone/>
              <a:defRPr sz="9100"/>
            </a:lvl7pPr>
            <a:lvl8pPr marL="14601185" indent="0">
              <a:buNone/>
              <a:defRPr sz="9100"/>
            </a:lvl8pPr>
            <a:lvl9pPr marL="16687068" indent="0">
              <a:buNone/>
              <a:defRPr sz="91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6997" y="33471317"/>
            <a:ext cx="18143220" cy="5019209"/>
          </a:xfrm>
        </p:spPr>
        <p:txBody>
          <a:bodyPr/>
          <a:lstStyle>
            <a:lvl1pPr marL="0" indent="0">
              <a:buNone/>
              <a:defRPr sz="6400"/>
            </a:lvl1pPr>
            <a:lvl2pPr marL="2085884" indent="0">
              <a:buNone/>
              <a:defRPr sz="5500"/>
            </a:lvl2pPr>
            <a:lvl3pPr marL="4171767" indent="0">
              <a:buNone/>
              <a:defRPr sz="4600"/>
            </a:lvl3pPr>
            <a:lvl4pPr marL="6257651" indent="0">
              <a:buNone/>
              <a:defRPr sz="4100"/>
            </a:lvl4pPr>
            <a:lvl5pPr marL="8343534" indent="0">
              <a:buNone/>
              <a:defRPr sz="4100"/>
            </a:lvl5pPr>
            <a:lvl6pPr marL="10429418" indent="0">
              <a:buNone/>
              <a:defRPr sz="4100"/>
            </a:lvl6pPr>
            <a:lvl7pPr marL="12515301" indent="0">
              <a:buNone/>
              <a:defRPr sz="4100"/>
            </a:lvl7pPr>
            <a:lvl8pPr marL="14601185" indent="0">
              <a:buNone/>
              <a:defRPr sz="4100"/>
            </a:lvl8pPr>
            <a:lvl9pPr marL="16687068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538592" y="7553572"/>
            <a:ext cx="31818884" cy="1608919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1449" y="7553572"/>
            <a:ext cx="94963166" cy="1608919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1936" y="1712673"/>
            <a:ext cx="27214830" cy="7127875"/>
          </a:xfrm>
          <a:prstGeom prst="rect">
            <a:avLst/>
          </a:prstGeom>
        </p:spPr>
        <p:txBody>
          <a:bodyPr vert="horz" lIns="417177" tIns="208588" rIns="417177" bIns="20858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936" y="9979028"/>
            <a:ext cx="27214830" cy="28224408"/>
          </a:xfrm>
          <a:prstGeom prst="rect">
            <a:avLst/>
          </a:prstGeom>
        </p:spPr>
        <p:txBody>
          <a:bodyPr vert="horz" lIns="417177" tIns="208588" rIns="417177" bIns="208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1936" y="39638908"/>
            <a:ext cx="7055697" cy="2276960"/>
          </a:xfrm>
          <a:prstGeom prst="rect">
            <a:avLst/>
          </a:prstGeom>
        </p:spPr>
        <p:txBody>
          <a:bodyPr vert="horz" lIns="417177" tIns="208588" rIns="417177" bIns="208588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9675B-DDFC-3444-B2B3-27FABDDBE67B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31556" y="39638908"/>
            <a:ext cx="9575589" cy="2276960"/>
          </a:xfrm>
          <a:prstGeom prst="rect">
            <a:avLst/>
          </a:prstGeom>
        </p:spPr>
        <p:txBody>
          <a:bodyPr vert="horz" lIns="417177" tIns="208588" rIns="417177" bIns="208588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71069" y="39638908"/>
            <a:ext cx="7055697" cy="2276960"/>
          </a:xfrm>
          <a:prstGeom prst="rect">
            <a:avLst/>
          </a:prstGeom>
        </p:spPr>
        <p:txBody>
          <a:bodyPr vert="horz" lIns="417177" tIns="208588" rIns="417177" bIns="208588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5884" rtl="0" eaLnBrk="1" latinLnBrk="0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4413" indent="-1564413" algn="l" defTabSz="2085884" rtl="0" eaLnBrk="1" latinLnBrk="0" hangingPunct="1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89561" indent="-1303677" algn="l" defTabSz="2085884" rtl="0" eaLnBrk="1" latinLnBrk="0" hangingPunct="1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14709" indent="-1042942" algn="l" defTabSz="2085884" rtl="0" eaLnBrk="1" latinLnBrk="0" hangingPunct="1">
        <a:spcBef>
          <a:spcPct val="20000"/>
        </a:spcBef>
        <a:buFont typeface="Arial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3pPr>
      <a:lvl4pPr marL="7300592" indent="-1042942" algn="l" defTabSz="2085884" rtl="0" eaLnBrk="1" latinLnBrk="0" hangingPunct="1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386476" indent="-1042942" algn="l" defTabSz="2085884" rtl="0" eaLnBrk="1" latinLnBrk="0" hangingPunct="1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72360" indent="-1042942" algn="l" defTabSz="208588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58243" indent="-1042942" algn="l" defTabSz="208588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44127" indent="-1042942" algn="l" defTabSz="208588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30010" indent="-1042942" algn="l" defTabSz="208588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5884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1767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57651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3534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29418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15301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01185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87068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4E8D-ED54-4D20-13A7-A0AF6ACB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15C40A28-8510-A6AF-0C8E-CEF643C83DF3}"/>
              </a:ext>
            </a:extLst>
          </p:cNvPr>
          <p:cNvSpPr/>
          <p:nvPr/>
        </p:nvSpPr>
        <p:spPr>
          <a:xfrm flipV="1">
            <a:off x="-3" y="39801800"/>
            <a:ext cx="30314903" cy="2965447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182200-38AD-9C1C-0347-035F519F1431}"/>
              </a:ext>
            </a:extLst>
          </p:cNvPr>
          <p:cNvSpPr/>
          <p:nvPr/>
        </p:nvSpPr>
        <p:spPr>
          <a:xfrm flipV="1">
            <a:off x="-35878" y="-31544"/>
            <a:ext cx="30350778" cy="6255087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CB5956D-79D0-1E37-F408-C318B991AD9A}"/>
              </a:ext>
            </a:extLst>
          </p:cNvPr>
          <p:cNvSpPr txBox="1">
            <a:spLocks/>
          </p:cNvSpPr>
          <p:nvPr/>
        </p:nvSpPr>
        <p:spPr>
          <a:xfrm>
            <a:off x="11657356" y="2911831"/>
            <a:ext cx="11622907" cy="322089"/>
          </a:xfrm>
          <a:custGeom>
            <a:avLst/>
            <a:gdLst>
              <a:gd name="connsiteX0" fmla="*/ 0 w 22590031"/>
              <a:gd name="connsiteY0" fmla="*/ 0 h 4495162"/>
              <a:gd name="connsiteX1" fmla="*/ 22590031 w 22590031"/>
              <a:gd name="connsiteY1" fmla="*/ 0 h 4495162"/>
              <a:gd name="connsiteX2" fmla="*/ 22590031 w 22590031"/>
              <a:gd name="connsiteY2" fmla="*/ 4495162 h 4495162"/>
              <a:gd name="connsiteX3" fmla="*/ 0 w 22590031"/>
              <a:gd name="connsiteY3" fmla="*/ 4495162 h 4495162"/>
              <a:gd name="connsiteX4" fmla="*/ 0 w 22590031"/>
              <a:gd name="connsiteY4" fmla="*/ 0 h 4495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90031" h="4495162">
                <a:moveTo>
                  <a:pt x="0" y="0"/>
                </a:moveTo>
                <a:lnTo>
                  <a:pt x="22590031" y="0"/>
                </a:lnTo>
                <a:lnTo>
                  <a:pt x="22590031" y="4495162"/>
                </a:lnTo>
                <a:lnTo>
                  <a:pt x="0" y="4495162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72000" tIns="213576" rIns="427153" bIns="213576" rtlCol="0" anchor="ctr" anchorCtr="0">
            <a:normAutofit fontScale="25000" lnSpcReduction="20000"/>
          </a:bodyPr>
          <a:lstStyle/>
          <a:p>
            <a:pPr>
              <a:spcBef>
                <a:spcPct val="0"/>
              </a:spcBef>
              <a:defRPr/>
            </a:pPr>
            <a:r>
              <a:rPr lang="en-AU" sz="28800" b="1" dirty="0">
                <a:solidFill>
                  <a:schemeClr val="bg1"/>
                </a:solidFill>
                <a:ea typeface="+mn-lt"/>
                <a:cs typeface="+mn-lt"/>
              </a:rPr>
              <a:t>Fraud Detection Database</a:t>
            </a:r>
          </a:p>
          <a:p>
            <a:pPr>
              <a:spcBef>
                <a:spcPct val="0"/>
              </a:spcBef>
              <a:defRPr/>
            </a:pPr>
            <a:endParaRPr lang="en-AU" sz="65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  <a:defRPr/>
            </a:pPr>
            <a:r>
              <a:rPr lang="en-US" sz="7100" b="1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endParaRPr lang="en-AU" sz="7100" b="1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ABBCFA-A5AF-AFF2-2865-E1C1EE9C0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788" y="1240470"/>
            <a:ext cx="7014079" cy="2426103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3672748-11D1-1608-695E-DCB8AAD6246F}"/>
              </a:ext>
            </a:extLst>
          </p:cNvPr>
          <p:cNvSpPr txBox="1"/>
          <p:nvPr/>
        </p:nvSpPr>
        <p:spPr>
          <a:xfrm>
            <a:off x="10039350" y="628650"/>
            <a:ext cx="151935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600" b="1" dirty="0">
                <a:latin typeface="Tw Cen MT" panose="020B0602020104020603" pitchFamily="34" charset="0"/>
              </a:rPr>
              <a:t>COMP9120: Semester 2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E1FB22-D6E3-7AEB-3FA7-101E5195C571}"/>
              </a:ext>
            </a:extLst>
          </p:cNvPr>
          <p:cNvSpPr txBox="1"/>
          <p:nvPr/>
        </p:nvSpPr>
        <p:spPr>
          <a:xfrm>
            <a:off x="1246788" y="40277143"/>
            <a:ext cx="2740441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>
                <a:solidFill>
                  <a:schemeClr val="bg1"/>
                </a:solidFill>
              </a:rPr>
              <a:t>Acknowledgements: COMP9120 teaching team  ·  All data is synthetic  ·  Generative AI use is acknowledged in the report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01" name="Tagline 101"/>
          <p:cNvSpPr txBox="1"/>
          <p:nvPr/>
        </p:nvSpPr>
        <p:spPr>
          <a:xfrm>
            <a:off x="1008000" y="6624000"/>
            <a:ext cx="28260000" cy="9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b="1" i="1" dirty="0">
                <a:solidFill>
                  <a:srgbClr val="E64626"/>
                </a:solidFill>
                <a:latin typeface="Calibri"/>
                <a:cs typeface="Calibri"/>
              </a:rPr>
              <a:t>An explainable, auditable PostgreSQL database for reviewing card-transaction fraud</a:t>
            </a:r>
            <a:endParaRPr lang="en-AU" sz="4000" dirty="0"/>
          </a:p>
        </p:txBody>
      </p:sp>
      <p:sp>
        <p:nvSpPr>
          <p:cNvPr id="102" name="Problem card 102"/>
          <p:cNvSpPr/>
          <p:nvPr/>
        </p:nvSpPr>
        <p:spPr>
          <a:xfrm>
            <a:off x="1008000" y="7992000"/>
            <a:ext cx="8988000" cy="6768000"/>
          </a:xfrm>
          <a:prstGeom prst="roundRect">
            <a:avLst>
              <a:gd name="adj" fmla="val 3000"/>
            </a:avLst>
          </a:prstGeom>
          <a:solidFill>
            <a:srgbClr val="F3F3F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AU" sz="1200" dirty="0"/>
          </a:p>
        </p:txBody>
      </p:sp>
      <p:sp>
        <p:nvSpPr>
          <p:cNvPr id="103" name="Section number 103"/>
          <p:cNvSpPr/>
          <p:nvPr/>
        </p:nvSpPr>
        <p:spPr>
          <a:xfrm>
            <a:off x="1440000" y="8424000"/>
            <a:ext cx="1080000" cy="1080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lang="en-AU" sz="4000" dirty="0"/>
          </a:p>
        </p:txBody>
      </p:sp>
      <p:sp>
        <p:nvSpPr>
          <p:cNvPr id="104" name="Section title 104"/>
          <p:cNvSpPr txBox="1"/>
          <p:nvPr/>
        </p:nvSpPr>
        <p:spPr>
          <a:xfrm>
            <a:off x="2808000" y="8352000"/>
            <a:ext cx="6756000" cy="12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5000" b="1" dirty="0">
                <a:solidFill>
                  <a:srgbClr val="1A1A1A"/>
                </a:solidFill>
                <a:latin typeface="Calibri"/>
                <a:cs typeface="Calibri"/>
              </a:rPr>
              <a:t>The problem</a:t>
            </a:r>
            <a:endParaRPr lang="en-AU" sz="5000" dirty="0"/>
          </a:p>
        </p:txBody>
      </p:sp>
      <p:sp>
        <p:nvSpPr>
          <p:cNvPr id="105" name="Problem text 105"/>
          <p:cNvSpPr txBox="1"/>
          <p:nvPr/>
        </p:nvSpPr>
        <p:spPr>
          <a:xfrm>
            <a:off x="1440000" y="9864000"/>
            <a:ext cx="8124000" cy="46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AU" sz="2700" b="0" dirty="0">
                <a:solidFill>
                  <a:srgbClr val="1A1A1A"/>
                </a:solidFill>
                <a:latin typeface="Calibri"/>
                <a:cs typeface="Calibri"/>
              </a:rPr>
              <a:t>Fraud analysts must decide quickly which card payments to investigate. A risk score alone does not say </a:t>
            </a:r>
            <a:r>
              <a:rPr lang="en-AU" sz="2700" b="0" i="1" dirty="0">
                <a:solidFill>
                  <a:srgbClr val="1A1A1A"/>
                </a:solidFill>
                <a:latin typeface="Calibri"/>
                <a:cs typeface="Calibri"/>
              </a:rPr>
              <a:t>why</a:t>
            </a:r>
            <a:r>
              <a:rPr lang="en-AU" sz="2700" b="0" dirty="0">
                <a:solidFill>
                  <a:srgbClr val="1A1A1A"/>
                </a:solidFill>
                <a:latin typeface="Calibri"/>
                <a:cs typeface="Calibri"/>
              </a:rPr>
              <a:t> a payment looks suspicious, and a lost or duplicated record breaks the audit trail.</a:t>
            </a:r>
            <a:endParaRPr lang="en-AU" sz="27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AU" sz="2700" b="1" dirty="0">
                <a:solidFill>
                  <a:srgbClr val="1A1A1A"/>
                </a:solidFill>
                <a:latin typeface="Calibri"/>
                <a:cs typeface="Calibri"/>
              </a:rPr>
              <a:t>Users: </a:t>
            </a:r>
            <a:r>
              <a:rPr lang="en-AU" sz="2700" b="0" dirty="0">
                <a:solidFill>
                  <a:srgbClr val="1A1A1A"/>
                </a:solidFill>
                <a:latin typeface="Calibri"/>
                <a:cs typeface="Calibri"/>
              </a:rPr>
              <a:t>fraud analysts who review alerts, and an operator who submits test payments.</a:t>
            </a:r>
            <a:endParaRPr lang="en-AU" sz="27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700" b="1" dirty="0">
                <a:solidFill>
                  <a:srgbClr val="1A1A1A"/>
                </a:solidFill>
                <a:latin typeface="Calibri"/>
                <a:cs typeface="Calibri"/>
              </a:rPr>
              <a:t>Goal: </a:t>
            </a:r>
            <a:r>
              <a:rPr lang="en-AU" sz="2700" b="0" dirty="0">
                <a:solidFill>
                  <a:srgbClr val="1A1A1A"/>
                </a:solidFill>
                <a:latin typeface="Calibri"/>
                <a:cs typeface="Calibri"/>
              </a:rPr>
              <a:t>score every payment with explainable rules and keep every decision and review as evidence.</a:t>
            </a:r>
            <a:endParaRPr lang="en-AU" sz="2700" dirty="0"/>
          </a:p>
        </p:txBody>
      </p:sp>
      <p:sp>
        <p:nvSpPr>
          <p:cNvPr id="106" name="Solution card 106"/>
          <p:cNvSpPr/>
          <p:nvPr/>
        </p:nvSpPr>
        <p:spPr>
          <a:xfrm>
            <a:off x="10643999" y="7992000"/>
            <a:ext cx="8988000" cy="6768000"/>
          </a:xfrm>
          <a:prstGeom prst="roundRect">
            <a:avLst>
              <a:gd name="adj" fmla="val 3000"/>
            </a:avLst>
          </a:prstGeom>
          <a:solidFill>
            <a:srgbClr val="F3F3F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AU" sz="1200" dirty="0"/>
          </a:p>
        </p:txBody>
      </p:sp>
      <p:sp>
        <p:nvSpPr>
          <p:cNvPr id="107" name="Section number 107"/>
          <p:cNvSpPr/>
          <p:nvPr/>
        </p:nvSpPr>
        <p:spPr>
          <a:xfrm>
            <a:off x="11075999" y="8424000"/>
            <a:ext cx="1080000" cy="1080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lang="en-AU" sz="4000" dirty="0"/>
          </a:p>
        </p:txBody>
      </p:sp>
      <p:sp>
        <p:nvSpPr>
          <p:cNvPr id="108" name="Section title 108"/>
          <p:cNvSpPr txBox="1"/>
          <p:nvPr/>
        </p:nvSpPr>
        <p:spPr>
          <a:xfrm>
            <a:off x="12443999" y="8352000"/>
            <a:ext cx="6756000" cy="12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5000" b="1" dirty="0">
                <a:solidFill>
                  <a:srgbClr val="1A1A1A"/>
                </a:solidFill>
                <a:latin typeface="Calibri"/>
                <a:cs typeface="Calibri"/>
              </a:rPr>
              <a:t>Our solution</a:t>
            </a:r>
            <a:endParaRPr lang="en-AU" sz="5000" dirty="0"/>
          </a:p>
        </p:txBody>
      </p:sp>
      <p:sp>
        <p:nvSpPr>
          <p:cNvPr id="109" name="Flow step 109"/>
          <p:cNvSpPr/>
          <p:nvPr/>
        </p:nvSpPr>
        <p:spPr>
          <a:xfrm>
            <a:off x="11147999" y="9936000"/>
            <a:ext cx="576000" cy="576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lang="en-AU" sz="2000" dirty="0"/>
          </a:p>
        </p:txBody>
      </p:sp>
      <p:sp>
        <p:nvSpPr>
          <p:cNvPr id="110" name="Flow text 110"/>
          <p:cNvSpPr txBox="1"/>
          <p:nvPr/>
        </p:nvSpPr>
        <p:spPr>
          <a:xfrm>
            <a:off x="11939999" y="9756000"/>
            <a:ext cx="7260000" cy="9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 b="1" dirty="0">
                <a:solidFill>
                  <a:srgbClr val="1A1A1A"/>
                </a:solidFill>
                <a:latin typeface="Calibri"/>
                <a:cs typeface="Calibri"/>
              </a:rPr>
              <a:t>Payment arrives  </a:t>
            </a:r>
            <a:r>
              <a:rPr lang="en-AU" sz="2100" b="0" dirty="0">
                <a:solidFill>
                  <a:srgbClr val="4D4D4D"/>
                </a:solidFill>
                <a:latin typeface="Calibri"/>
                <a:cs typeface="Calibri"/>
              </a:rPr>
              <a:t>card, merchant, device, location, amount</a:t>
            </a:r>
            <a:endParaRPr lang="en-AU" sz="2100" dirty="0"/>
          </a:p>
        </p:txBody>
      </p:sp>
      <p:sp>
        <p:nvSpPr>
          <p:cNvPr id="111" name="Flow step 111"/>
          <p:cNvSpPr/>
          <p:nvPr/>
        </p:nvSpPr>
        <p:spPr>
          <a:xfrm>
            <a:off x="11147999" y="10890000"/>
            <a:ext cx="576000" cy="576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lang="en-AU" sz="2000" dirty="0"/>
          </a:p>
        </p:txBody>
      </p:sp>
      <p:sp>
        <p:nvSpPr>
          <p:cNvPr id="112" name="Flow text 112"/>
          <p:cNvSpPr txBox="1"/>
          <p:nvPr/>
        </p:nvSpPr>
        <p:spPr>
          <a:xfrm>
            <a:off x="11939999" y="10710000"/>
            <a:ext cx="7260000" cy="9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 b="1" dirty="0">
                <a:solidFill>
                  <a:srgbClr val="1A1A1A"/>
                </a:solidFill>
                <a:latin typeface="Calibri"/>
                <a:cs typeface="Calibri"/>
              </a:rPr>
              <a:t>5 explainable rules  </a:t>
            </a:r>
            <a:r>
              <a:rPr lang="en-AU" sz="2100" b="0" dirty="0">
                <a:solidFill>
                  <a:srgbClr val="4D4D4D"/>
                </a:solidFill>
                <a:latin typeface="Calibri"/>
                <a:cs typeface="Calibri"/>
              </a:rPr>
              <a:t>large amount, high vs history, velocity, new device, declines</a:t>
            </a:r>
            <a:endParaRPr lang="en-AU" sz="2100" dirty="0"/>
          </a:p>
        </p:txBody>
      </p:sp>
      <p:sp>
        <p:nvSpPr>
          <p:cNvPr id="113" name="Flow step 113"/>
          <p:cNvSpPr/>
          <p:nvPr/>
        </p:nvSpPr>
        <p:spPr>
          <a:xfrm>
            <a:off x="11147999" y="11844000"/>
            <a:ext cx="576000" cy="576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lang="en-AU" sz="2000" dirty="0"/>
          </a:p>
        </p:txBody>
      </p:sp>
      <p:sp>
        <p:nvSpPr>
          <p:cNvPr id="114" name="Flow text 114"/>
          <p:cNvSpPr txBox="1"/>
          <p:nvPr/>
        </p:nvSpPr>
        <p:spPr>
          <a:xfrm>
            <a:off x="11939999" y="11664000"/>
            <a:ext cx="7260000" cy="9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 b="1" dirty="0">
                <a:solidFill>
                  <a:srgbClr val="1A1A1A"/>
                </a:solidFill>
                <a:latin typeface="Calibri"/>
                <a:cs typeface="Calibri"/>
              </a:rPr>
              <a:t>Risk score stored  </a:t>
            </a:r>
            <a:r>
              <a:rPr lang="en-AU" sz="2100" b="0" dirty="0">
                <a:solidFill>
                  <a:srgbClr val="4D4D4D"/>
                </a:solidFill>
                <a:latin typeface="Calibri"/>
                <a:cs typeface="Calibri"/>
              </a:rPr>
              <a:t>for every payment, with the evidence for each rule</a:t>
            </a:r>
            <a:endParaRPr lang="en-AU" sz="2100" dirty="0"/>
          </a:p>
        </p:txBody>
      </p:sp>
      <p:sp>
        <p:nvSpPr>
          <p:cNvPr id="115" name="Flow step 115"/>
          <p:cNvSpPr/>
          <p:nvPr/>
        </p:nvSpPr>
        <p:spPr>
          <a:xfrm>
            <a:off x="11147999" y="12798000"/>
            <a:ext cx="576000" cy="576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lang="en-AU" sz="2000" dirty="0"/>
          </a:p>
        </p:txBody>
      </p:sp>
      <p:sp>
        <p:nvSpPr>
          <p:cNvPr id="116" name="Flow text 116"/>
          <p:cNvSpPr txBox="1"/>
          <p:nvPr/>
        </p:nvSpPr>
        <p:spPr>
          <a:xfrm>
            <a:off x="11939999" y="12618000"/>
            <a:ext cx="7260000" cy="9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 b="1" dirty="0">
                <a:solidFill>
                  <a:srgbClr val="1A1A1A"/>
                </a:solidFill>
                <a:latin typeface="Calibri"/>
                <a:cs typeface="Calibri"/>
              </a:rPr>
              <a:t>Alert if score ≥ 30  </a:t>
            </a:r>
            <a:r>
              <a:rPr lang="en-AU" sz="2100" b="0" dirty="0">
                <a:solidFill>
                  <a:srgbClr val="4D4D4D"/>
                </a:solidFill>
                <a:latin typeface="Calibri"/>
                <a:cs typeface="Calibri"/>
              </a:rPr>
              <a:t>into the analyst queue</a:t>
            </a:r>
            <a:endParaRPr lang="en-AU" sz="2100" dirty="0"/>
          </a:p>
        </p:txBody>
      </p:sp>
      <p:sp>
        <p:nvSpPr>
          <p:cNvPr id="117" name="Flow step 117"/>
          <p:cNvSpPr/>
          <p:nvPr/>
        </p:nvSpPr>
        <p:spPr>
          <a:xfrm>
            <a:off x="11147999" y="13752000"/>
            <a:ext cx="576000" cy="576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lang="en-AU" sz="2000" dirty="0"/>
          </a:p>
        </p:txBody>
      </p:sp>
      <p:sp>
        <p:nvSpPr>
          <p:cNvPr id="118" name="Flow text 118"/>
          <p:cNvSpPr txBox="1"/>
          <p:nvPr/>
        </p:nvSpPr>
        <p:spPr>
          <a:xfrm>
            <a:off x="11939999" y="13572000"/>
            <a:ext cx="7260000" cy="9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 b="1" dirty="0">
                <a:solidFill>
                  <a:srgbClr val="1A1A1A"/>
                </a:solidFill>
                <a:latin typeface="Calibri"/>
                <a:cs typeface="Calibri"/>
              </a:rPr>
              <a:t>Analyst reviews  </a:t>
            </a:r>
            <a:r>
              <a:rPr lang="en-AU" sz="2100" b="0" dirty="0">
                <a:solidFill>
                  <a:srgbClr val="4D4D4D"/>
                </a:solidFill>
                <a:latin typeface="Calibri"/>
                <a:cs typeface="Calibri"/>
              </a:rPr>
              <a:t>open → investigating → resolved / dismissed</a:t>
            </a:r>
            <a:endParaRPr lang="en-AU" sz="2100" dirty="0"/>
          </a:p>
        </p:txBody>
      </p:sp>
      <p:sp>
        <p:nvSpPr>
          <p:cNvPr id="119" name="At a glance card 119"/>
          <p:cNvSpPr/>
          <p:nvPr/>
        </p:nvSpPr>
        <p:spPr>
          <a:xfrm>
            <a:off x="20279999" y="7992000"/>
            <a:ext cx="8988000" cy="6768000"/>
          </a:xfrm>
          <a:prstGeom prst="roundRect">
            <a:avLst>
              <a:gd name="adj" fmla="val 3000"/>
            </a:avLst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AU" sz="1200" dirty="0"/>
          </a:p>
        </p:txBody>
      </p:sp>
      <p:sp>
        <p:nvSpPr>
          <p:cNvPr id="120" name="Glance title 120"/>
          <p:cNvSpPr txBox="1"/>
          <p:nvPr/>
        </p:nvSpPr>
        <p:spPr>
          <a:xfrm>
            <a:off x="20783999" y="8352000"/>
            <a:ext cx="798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5000" b="1" dirty="0">
                <a:solidFill>
                  <a:srgbClr val="FFFFFF"/>
                </a:solidFill>
                <a:latin typeface="Calibri"/>
                <a:cs typeface="Calibri"/>
              </a:rPr>
              <a:t>At a glance</a:t>
            </a:r>
            <a:endParaRPr lang="en-AU" sz="5000" dirty="0"/>
          </a:p>
        </p:txBody>
      </p:sp>
      <p:sp>
        <p:nvSpPr>
          <p:cNvPr id="121" name="Stat 121"/>
          <p:cNvSpPr txBox="1"/>
          <p:nvPr/>
        </p:nvSpPr>
        <p:spPr>
          <a:xfrm>
            <a:off x="20783999" y="9792000"/>
            <a:ext cx="3774000" cy="23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0" b="1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lang="en-AU" sz="80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0" dirty="0">
                <a:solidFill>
                  <a:srgbClr val="FFFFFF"/>
                </a:solidFill>
                <a:latin typeface="Calibri"/>
                <a:cs typeface="Calibri"/>
              </a:rPr>
              <a:t>relations, 12 in BCNF</a:t>
            </a:r>
            <a:endParaRPr lang="en-AU" sz="2300" dirty="0"/>
          </a:p>
        </p:txBody>
      </p:sp>
      <p:sp>
        <p:nvSpPr>
          <p:cNvPr id="122" name="Stat 122"/>
          <p:cNvSpPr txBox="1"/>
          <p:nvPr/>
        </p:nvSpPr>
        <p:spPr>
          <a:xfrm>
            <a:off x="24990000" y="9792000"/>
            <a:ext cx="3774000" cy="23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lang="en-AU" sz="80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0" dirty="0">
                <a:solidFill>
                  <a:srgbClr val="FFFFFF"/>
                </a:solidFill>
                <a:latin typeface="Calibri"/>
                <a:cs typeface="Calibri"/>
              </a:rPr>
              <a:t>explainable fraud rules</a:t>
            </a:r>
            <a:endParaRPr lang="en-AU" sz="2300" dirty="0"/>
          </a:p>
        </p:txBody>
      </p:sp>
      <p:sp>
        <p:nvSpPr>
          <p:cNvPr id="123" name="Stat 123"/>
          <p:cNvSpPr txBox="1"/>
          <p:nvPr/>
        </p:nvSpPr>
        <p:spPr>
          <a:xfrm>
            <a:off x="20783999" y="12312000"/>
            <a:ext cx="3774000" cy="23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0" b="1" dirty="0">
                <a:solidFill>
                  <a:srgbClr val="FFFFFF"/>
                </a:solidFill>
                <a:latin typeface="Calibri"/>
                <a:cs typeface="Calibri"/>
              </a:rPr>
              <a:t>6,378</a:t>
            </a:r>
            <a:endParaRPr lang="en-AU" sz="80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0" dirty="0">
                <a:solidFill>
                  <a:srgbClr val="FFFFFF"/>
                </a:solidFill>
                <a:latin typeface="Calibri"/>
                <a:cs typeface="Calibri"/>
              </a:rPr>
              <a:t>synthetic transactions</a:t>
            </a:r>
            <a:endParaRPr lang="en-AU" sz="2300" dirty="0"/>
          </a:p>
        </p:txBody>
      </p:sp>
      <p:sp>
        <p:nvSpPr>
          <p:cNvPr id="124" name="Stat 124"/>
          <p:cNvSpPr txBox="1"/>
          <p:nvPr/>
        </p:nvSpPr>
        <p:spPr>
          <a:xfrm>
            <a:off x="24990000" y="12312000"/>
            <a:ext cx="3774000" cy="23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0" b="1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lang="en-AU" sz="80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0" dirty="0">
                <a:solidFill>
                  <a:srgbClr val="FFFFFF"/>
                </a:solidFill>
                <a:latin typeface="Calibri"/>
                <a:cs typeface="Calibri"/>
              </a:rPr>
              <a:t>rows left by a failed transaction</a:t>
            </a:r>
            <a:endParaRPr lang="en-AU" sz="2300" dirty="0"/>
          </a:p>
        </p:txBody>
      </p:sp>
      <p:sp>
        <p:nvSpPr>
          <p:cNvPr id="125" name="Section number 125"/>
          <p:cNvSpPr/>
          <p:nvPr/>
        </p:nvSpPr>
        <p:spPr>
          <a:xfrm>
            <a:off x="1008000" y="15408000"/>
            <a:ext cx="1080000" cy="1080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lang="en-AU" sz="4000" dirty="0"/>
          </a:p>
        </p:txBody>
      </p:sp>
      <p:sp>
        <p:nvSpPr>
          <p:cNvPr id="126" name="Section title 126"/>
          <p:cNvSpPr txBox="1"/>
          <p:nvPr/>
        </p:nvSpPr>
        <p:spPr>
          <a:xfrm>
            <a:off x="2376000" y="15336000"/>
            <a:ext cx="26892000" cy="12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5000" b="1" dirty="0">
                <a:solidFill>
                  <a:srgbClr val="1A1A1A"/>
                </a:solidFill>
                <a:latin typeface="Calibri"/>
                <a:cs typeface="Calibri"/>
              </a:rPr>
              <a:t>Database design</a:t>
            </a:r>
            <a:endParaRPr lang="en-AU" sz="5000" dirty="0"/>
          </a:p>
        </p:txBody>
      </p:sp>
      <p:pic>
        <p:nvPicPr>
          <p:cNvPr id="127" name="Picture 127" descr="Conceptual EER diagram of the fraud detection database in Chen not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00" y="16848000"/>
            <a:ext cx="12514626" cy="7821641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pic>
        <p:nvPicPr>
          <p:cNvPr id="128" name="Picture 128" descr="Relational model diagram: 13 relations with primary keys, foreign keys and reference arrow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2626" y="16848000"/>
            <a:ext cx="15025373" cy="7821641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sp>
        <p:nvSpPr>
          <p:cNvPr id="129" name="ER caption 129"/>
          <p:cNvSpPr txBox="1"/>
          <p:nvPr/>
        </p:nvSpPr>
        <p:spPr>
          <a:xfrm>
            <a:off x="1008000" y="24741641"/>
            <a:ext cx="12514626" cy="5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100" b="0" i="1" dirty="0">
                <a:solidFill>
                  <a:srgbClr val="4D4D4D"/>
                </a:solidFill>
                <a:latin typeface="Calibri"/>
                <a:cs typeface="Calibri"/>
              </a:rPr>
              <a:t>Conceptual EER model (Chen notation, min..max participation)</a:t>
            </a:r>
            <a:endParaRPr lang="en-AU" sz="2100" dirty="0"/>
          </a:p>
        </p:txBody>
      </p:sp>
      <p:sp>
        <p:nvSpPr>
          <p:cNvPr id="130" name="RM caption 130"/>
          <p:cNvSpPr txBox="1"/>
          <p:nvPr/>
        </p:nvSpPr>
        <p:spPr>
          <a:xfrm>
            <a:off x="14242626" y="24741641"/>
            <a:ext cx="15025373" cy="5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100" b="0" i="1" dirty="0">
                <a:solidFill>
                  <a:srgbClr val="4D4D4D"/>
                </a:solidFill>
                <a:latin typeface="Calibri"/>
                <a:cs typeface="Calibri"/>
              </a:rPr>
              <a:t>Relational model: primary keys underlined, each foreign key points to the key it references</a:t>
            </a:r>
            <a:endParaRPr lang="en-AU" sz="2100" dirty="0"/>
          </a:p>
        </p:txBody>
      </p:sp>
      <p:sp>
        <p:nvSpPr>
          <p:cNvPr id="131" name="Design callout 131"/>
          <p:cNvSpPr/>
          <p:nvPr/>
        </p:nvSpPr>
        <p:spPr>
          <a:xfrm>
            <a:off x="1008000" y="25389641"/>
            <a:ext cx="6687000" cy="2376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</p:spPr>
        <p:txBody>
          <a:bodyPr wrap="square" lIns="324000" tIns="252000" rIns="324000" bIns="21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AU" sz="2700" b="1" dirty="0">
                <a:solidFill>
                  <a:srgbClr val="E64626"/>
                </a:solidFill>
                <a:latin typeface="Calibri"/>
                <a:cs typeface="Calibri"/>
              </a:rPr>
              <a:t>Mapping</a:t>
            </a:r>
            <a:endParaRPr lang="en-AU" sz="2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0" dirty="0">
                <a:solidFill>
                  <a:srgbClr val="1A1A1A"/>
                </a:solidFill>
                <a:latin typeface="Calibri"/>
                <a:cs typeface="Calibri"/>
              </a:rPr>
              <a:t>M:N Matches becomes RULE_MATCH with a composite key; 1:1 AssessedBy is a UNIQUE foreign key; two analyst roles become two named foreign keys.</a:t>
            </a:r>
            <a:endParaRPr lang="en-AU" sz="2300" dirty="0"/>
          </a:p>
        </p:txBody>
      </p:sp>
      <p:sp>
        <p:nvSpPr>
          <p:cNvPr id="132" name="Design callout 132"/>
          <p:cNvSpPr/>
          <p:nvPr/>
        </p:nvSpPr>
        <p:spPr>
          <a:xfrm>
            <a:off x="8199000" y="25389641"/>
            <a:ext cx="6687000" cy="2376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</p:spPr>
        <p:txBody>
          <a:bodyPr wrap="square" lIns="324000" tIns="252000" rIns="324000" bIns="21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AU" sz="2700" b="1" dirty="0">
                <a:solidFill>
                  <a:srgbClr val="E64626"/>
                </a:solidFill>
                <a:latin typeface="Calibri"/>
                <a:cs typeface="Calibri"/>
              </a:rPr>
              <a:t>Normalisation</a:t>
            </a:r>
            <a:endParaRPr lang="en-AU" sz="2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0" dirty="0">
                <a:solidFill>
                  <a:srgbClr val="1A1A1A"/>
                </a:solidFill>
                <a:latin typeface="Calibri"/>
                <a:cs typeface="Calibri"/>
              </a:rPr>
              <a:t>12 of 13 relations are in BCNF. RISK_ASSESSMENT keeps score → risk level on purpose, guarded by a CHECK constraint.</a:t>
            </a:r>
            <a:endParaRPr lang="en-AU" sz="2300" dirty="0"/>
          </a:p>
        </p:txBody>
      </p:sp>
      <p:sp>
        <p:nvSpPr>
          <p:cNvPr id="133" name="Design callout 133"/>
          <p:cNvSpPr/>
          <p:nvPr/>
        </p:nvSpPr>
        <p:spPr>
          <a:xfrm>
            <a:off x="15390000" y="25389641"/>
            <a:ext cx="6687000" cy="2376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</p:spPr>
        <p:txBody>
          <a:bodyPr wrap="square" lIns="324000" tIns="252000" rIns="324000" bIns="21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AU" sz="2700" b="1" dirty="0">
                <a:solidFill>
                  <a:srgbClr val="E64626"/>
                </a:solidFill>
                <a:latin typeface="Calibri"/>
                <a:cs typeface="Calibri"/>
              </a:rPr>
              <a:t>Integrity</a:t>
            </a:r>
            <a:endParaRPr lang="en-AU" sz="2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0" dirty="0">
                <a:solidFill>
                  <a:srgbClr val="1A1A1A"/>
                </a:solidFill>
                <a:latin typeface="Calibri"/>
                <a:cs typeface="Calibri"/>
              </a:rPr>
              <a:t>Primary and UNIQUE keys (incl. request ID), foreign keys with ON DELETE RESTRICT, CHECKs: amount &gt; 0, valid statuses, closed alerts need a note.</a:t>
            </a:r>
            <a:endParaRPr lang="en-AU" sz="2300" dirty="0"/>
          </a:p>
        </p:txBody>
      </p:sp>
      <p:sp>
        <p:nvSpPr>
          <p:cNvPr id="134" name="Design callout 134"/>
          <p:cNvSpPr/>
          <p:nvPr/>
        </p:nvSpPr>
        <p:spPr>
          <a:xfrm>
            <a:off x="22581000" y="25389641"/>
            <a:ext cx="6687000" cy="2376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</p:spPr>
        <p:txBody>
          <a:bodyPr wrap="square" lIns="324000" tIns="252000" rIns="324000" bIns="21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AU" sz="2700" b="1" dirty="0">
                <a:solidFill>
                  <a:srgbClr val="E64626"/>
                </a:solidFill>
                <a:latin typeface="Calibri"/>
                <a:cs typeface="Calibri"/>
              </a:rPr>
              <a:t>SQL</a:t>
            </a:r>
            <a:endParaRPr lang="en-AU" sz="27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0" dirty="0">
                <a:solidFill>
                  <a:srgbClr val="1A1A1A"/>
                </a:solidFill>
                <a:latin typeface="Calibri"/>
                <a:cs typeface="Calibri"/>
              </a:rPr>
              <a:t>8 report queries using correlated subqueries, LATERAL joins, GROUP BY … HAVING and FILTER, e.g. accounts with repeated alerts.</a:t>
            </a:r>
            <a:endParaRPr lang="en-AU" sz="2300" dirty="0"/>
          </a:p>
        </p:txBody>
      </p:sp>
      <p:sp>
        <p:nvSpPr>
          <p:cNvPr id="135" name="Section number 135"/>
          <p:cNvSpPr/>
          <p:nvPr/>
        </p:nvSpPr>
        <p:spPr>
          <a:xfrm>
            <a:off x="1008000" y="28413641"/>
            <a:ext cx="1080000" cy="1080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lang="en-AU" sz="4000" dirty="0"/>
          </a:p>
        </p:txBody>
      </p:sp>
      <p:sp>
        <p:nvSpPr>
          <p:cNvPr id="136" name="Section title 136"/>
          <p:cNvSpPr txBox="1"/>
          <p:nvPr/>
        </p:nvSpPr>
        <p:spPr>
          <a:xfrm>
            <a:off x="2376000" y="28341641"/>
            <a:ext cx="13932000" cy="12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5000" b="1" dirty="0">
                <a:solidFill>
                  <a:srgbClr val="1A1A1A"/>
                </a:solidFill>
                <a:latin typeface="Calibri"/>
                <a:cs typeface="Calibri"/>
              </a:rPr>
              <a:t>A multi-step transaction</a:t>
            </a:r>
            <a:endParaRPr lang="en-AU" sz="5000" dirty="0"/>
          </a:p>
        </p:txBody>
      </p:sp>
      <p:sp>
        <p:nvSpPr>
          <p:cNvPr id="137" name="Transaction text 137"/>
          <p:cNvSpPr txBox="1"/>
          <p:nvPr/>
        </p:nvSpPr>
        <p:spPr>
          <a:xfrm>
            <a:off x="1008000" y="29781641"/>
            <a:ext cx="15300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2500" b="1" dirty="0">
                <a:solidFill>
                  <a:srgbClr val="1A1A1A"/>
                </a:solidFill>
                <a:latin typeface="Calibri"/>
                <a:cs typeface="Calibri"/>
              </a:rPr>
              <a:t>Boundary: </a:t>
            </a:r>
            <a:r>
              <a:rPr lang="en-AU" sz="2500" b="0" dirty="0">
                <a:solidFill>
                  <a:srgbClr val="1A1A1A"/>
                </a:solidFill>
                <a:latin typeface="Calibri"/>
                <a:cs typeface="Calibri"/>
              </a:rPr>
              <a:t>one payment = one database transaction. BEGIN → lock the card row → check the request ID → insert the transaction → evaluate rules on earlier history → insert the assessment and rule matches → alert if score ≥ 30 → COMMIT.</a:t>
            </a:r>
            <a:endParaRPr lang="en-AU" sz="250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 b="1" dirty="0">
                <a:solidFill>
                  <a:srgbClr val="1A1A1A"/>
                </a:solidFill>
                <a:latin typeface="Calibri"/>
                <a:cs typeface="Calibri"/>
              </a:rPr>
              <a:t>Failure: </a:t>
            </a:r>
            <a:r>
              <a:rPr lang="en-AU" sz="2500" b="0" dirty="0">
                <a:solidFill>
                  <a:srgbClr val="1A1A1A"/>
                </a:solidFill>
                <a:latin typeface="Calibri"/>
                <a:cs typeface="Calibri"/>
              </a:rPr>
              <a:t>a fault injected at the alert step rolls back all earlier steps; 0 rows are kept. </a:t>
            </a:r>
            <a:r>
              <a:rPr lang="en-AU" sz="2500" b="1" dirty="0">
                <a:solidFill>
                  <a:srgbClr val="1A1A1A"/>
                </a:solidFill>
                <a:latin typeface="Calibri"/>
                <a:cs typeface="Calibri"/>
              </a:rPr>
              <a:t>Concurrency: </a:t>
            </a:r>
            <a:r>
              <a:rPr lang="en-AU" sz="2500" b="0" dirty="0">
                <a:solidFill>
                  <a:srgbClr val="1A1A1A"/>
                </a:solidFill>
                <a:latin typeface="Calibri"/>
                <a:cs typeface="Calibri"/>
              </a:rPr>
              <a:t>simultaneous attempts on one card queue on the lock, so velocity rule R3 fires on exactly #5 and #6.</a:t>
            </a:r>
            <a:endParaRPr lang="en-AU" sz="2500" dirty="0"/>
          </a:p>
        </p:txBody>
      </p:sp>
      <p:pic>
        <p:nvPicPr>
          <p:cNvPr id="138" name="Picture 138" descr="Transaction demo page: six simultaneous attempts queue on the card lock and R3 matches attempts 5 and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79" y="32085641"/>
            <a:ext cx="14980241" cy="7226358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sp>
        <p:nvSpPr>
          <p:cNvPr id="139" name="Section number 139"/>
          <p:cNvSpPr/>
          <p:nvPr/>
        </p:nvSpPr>
        <p:spPr>
          <a:xfrm>
            <a:off x="17028000" y="28413641"/>
            <a:ext cx="1080000" cy="1080000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lang="en-AU" sz="4000" dirty="0"/>
          </a:p>
        </p:txBody>
      </p:sp>
      <p:sp>
        <p:nvSpPr>
          <p:cNvPr id="140" name="Section title 140"/>
          <p:cNvSpPr txBox="1"/>
          <p:nvPr/>
        </p:nvSpPr>
        <p:spPr>
          <a:xfrm>
            <a:off x="18396000" y="28341641"/>
            <a:ext cx="10872000" cy="12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5000" b="1" dirty="0">
                <a:solidFill>
                  <a:srgbClr val="1A1A1A"/>
                </a:solidFill>
                <a:latin typeface="Calibri"/>
                <a:cs typeface="Calibri"/>
              </a:rPr>
              <a:t>Working prototype</a:t>
            </a:r>
            <a:endParaRPr lang="en-AU" sz="5000" dirty="0"/>
          </a:p>
        </p:txBody>
      </p:sp>
      <p:pic>
        <p:nvPicPr>
          <p:cNvPr id="141" name="Picture 141" descr="Dashboard showing transactions screened, alerts awaiting review and risk-level coun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28000" y="29853641"/>
            <a:ext cx="12240000" cy="3638525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pic>
        <p:nvPicPr>
          <p:cNvPr id="142" name="Picture 142" descr="Alert detail explaining a score of 100 as R1 40 + R2 30 + R4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28000" y="33852167"/>
            <a:ext cx="12240000" cy="3758059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sp>
        <p:nvSpPr>
          <p:cNvPr id="143" name="Stack text 143"/>
          <p:cNvSpPr txBox="1"/>
          <p:nvPr/>
        </p:nvSpPr>
        <p:spPr>
          <a:xfrm>
            <a:off x="17028000" y="37826226"/>
            <a:ext cx="12240000" cy="15577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300" b="1" dirty="0">
                <a:solidFill>
                  <a:srgbClr val="1A1A1A"/>
                </a:solidFill>
                <a:latin typeface="Calibri"/>
                <a:cs typeface="Calibri"/>
              </a:rPr>
              <a:t>Stack: </a:t>
            </a:r>
            <a:r>
              <a:rPr lang="en-AU" sz="2300" b="0" dirty="0">
                <a:solidFill>
                  <a:srgbClr val="1A1A1A"/>
                </a:solidFill>
                <a:latin typeface="Calibri"/>
                <a:cs typeface="Calibri"/>
              </a:rPr>
              <a:t>PostgreSQL 17 · Java 21, Spring Boot, JDBC · React, TypeScript. </a:t>
            </a:r>
            <a:r>
              <a:rPr lang="en-AU" sz="2300" b="1" dirty="0">
                <a:solidFill>
                  <a:srgbClr val="1A1A1A"/>
                </a:solidFill>
                <a:latin typeface="Calibri"/>
                <a:cs typeface="Calibri"/>
              </a:rPr>
              <a:t>Tested: </a:t>
            </a:r>
            <a:r>
              <a:rPr lang="en-AU" sz="2300" b="0" dirty="0">
                <a:solidFill>
                  <a:srgbClr val="1A1A1A"/>
                </a:solidFill>
                <a:latin typeface="Calibri"/>
                <a:cs typeface="Calibri"/>
              </a:rPr>
              <a:t>16 integration tests; SQL and Java rule evaluation agree on all 31,890 checks.</a:t>
            </a:r>
            <a:endParaRPr lang="en-AU" sz="2300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8933A5F-0157-C6D6-2050-213B958A6EB2}"/>
              </a:ext>
            </a:extLst>
          </p:cNvPr>
          <p:cNvSpPr txBox="1">
            <a:spLocks/>
          </p:cNvSpPr>
          <p:nvPr/>
        </p:nvSpPr>
        <p:spPr>
          <a:xfrm>
            <a:off x="21656127" y="4433618"/>
            <a:ext cx="10441746" cy="605632"/>
          </a:xfrm>
          <a:custGeom>
            <a:avLst/>
            <a:gdLst>
              <a:gd name="connsiteX0" fmla="*/ 0 w 22590031"/>
              <a:gd name="connsiteY0" fmla="*/ 0 h 4495162"/>
              <a:gd name="connsiteX1" fmla="*/ 22590031 w 22590031"/>
              <a:gd name="connsiteY1" fmla="*/ 0 h 4495162"/>
              <a:gd name="connsiteX2" fmla="*/ 22590031 w 22590031"/>
              <a:gd name="connsiteY2" fmla="*/ 4495162 h 4495162"/>
              <a:gd name="connsiteX3" fmla="*/ 0 w 22590031"/>
              <a:gd name="connsiteY3" fmla="*/ 4495162 h 4495162"/>
              <a:gd name="connsiteX4" fmla="*/ 0 w 22590031"/>
              <a:gd name="connsiteY4" fmla="*/ 0 h 4495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90031" h="4495162">
                <a:moveTo>
                  <a:pt x="0" y="0"/>
                </a:moveTo>
                <a:lnTo>
                  <a:pt x="22590031" y="0"/>
                </a:lnTo>
                <a:lnTo>
                  <a:pt x="22590031" y="4495162"/>
                </a:lnTo>
                <a:lnTo>
                  <a:pt x="0" y="4495162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72000" tIns="213576" rIns="427153" bIns="213576" rtlCol="0" anchor="ctr" anchorCtr="0">
            <a:normAutofit fontScale="25000" lnSpcReduction="20000"/>
          </a:bodyPr>
          <a:lstStyle/>
          <a:p>
            <a:pPr>
              <a:spcBef>
                <a:spcPct val="0"/>
              </a:spcBef>
              <a:defRPr/>
            </a:pPr>
            <a:r>
              <a:rPr lang="en-AU" sz="17600" b="1" dirty="0">
                <a:solidFill>
                  <a:schemeClr val="bg1"/>
                </a:solidFill>
                <a:ea typeface="+mn-lt"/>
                <a:cs typeface="+mn-lt"/>
              </a:rPr>
              <a:t>Prajwal Bankar</a:t>
            </a:r>
          </a:p>
          <a:p>
            <a:pPr>
              <a:spcBef>
                <a:spcPct val="0"/>
              </a:spcBef>
              <a:defRPr/>
            </a:pPr>
            <a:endParaRPr lang="en-AU" sz="44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  <a:defRPr/>
            </a:pPr>
            <a:r>
              <a:rPr lang="en-AU" sz="16000" b="1" dirty="0">
                <a:solidFill>
                  <a:schemeClr val="bg1"/>
                </a:solidFill>
                <a:ea typeface="+mn-lt"/>
                <a:cs typeface="+mn-lt"/>
              </a:rPr>
              <a:t>pban0764@uni.sydney.edu.au</a:t>
            </a:r>
          </a:p>
          <a:p>
            <a:pPr>
              <a:spcBef>
                <a:spcPct val="0"/>
              </a:spcBef>
              <a:defRPr/>
            </a:pPr>
            <a:endParaRPr lang="en-AU" sz="7100" b="1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8F38CE4-A75F-BE62-70EA-79CCF3C33627}"/>
              </a:ext>
            </a:extLst>
          </p:cNvPr>
          <p:cNvSpPr txBox="1">
            <a:spLocks/>
          </p:cNvSpPr>
          <p:nvPr/>
        </p:nvSpPr>
        <p:spPr>
          <a:xfrm>
            <a:off x="11566082" y="4917473"/>
            <a:ext cx="10441746" cy="605632"/>
          </a:xfrm>
          <a:custGeom>
            <a:avLst/>
            <a:gdLst>
              <a:gd name="connsiteX0" fmla="*/ 0 w 22590031"/>
              <a:gd name="connsiteY0" fmla="*/ 0 h 4495162"/>
              <a:gd name="connsiteX1" fmla="*/ 22590031 w 22590031"/>
              <a:gd name="connsiteY1" fmla="*/ 0 h 4495162"/>
              <a:gd name="connsiteX2" fmla="*/ 22590031 w 22590031"/>
              <a:gd name="connsiteY2" fmla="*/ 4495162 h 4495162"/>
              <a:gd name="connsiteX3" fmla="*/ 0 w 22590031"/>
              <a:gd name="connsiteY3" fmla="*/ 4495162 h 4495162"/>
              <a:gd name="connsiteX4" fmla="*/ 0 w 22590031"/>
              <a:gd name="connsiteY4" fmla="*/ 0 h 4495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90031" h="4495162">
                <a:moveTo>
                  <a:pt x="0" y="0"/>
                </a:moveTo>
                <a:lnTo>
                  <a:pt x="22590031" y="0"/>
                </a:lnTo>
                <a:lnTo>
                  <a:pt x="22590031" y="4495162"/>
                </a:lnTo>
                <a:lnTo>
                  <a:pt x="0" y="4495162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72000" tIns="213576" rIns="427153" bIns="213576" rtlCol="0" anchor="ctr" anchorCtr="0">
            <a:normAutofit fontScale="25000" lnSpcReduction="20000"/>
          </a:bodyPr>
          <a:lstStyle/>
          <a:p>
            <a:pPr>
              <a:spcBef>
                <a:spcPct val="0"/>
              </a:spcBef>
              <a:defRPr/>
            </a:pPr>
            <a:r>
              <a:rPr lang="en-AU" sz="19200" b="1" dirty="0">
                <a:solidFill>
                  <a:schemeClr val="bg1"/>
                </a:solidFill>
                <a:ea typeface="+mn-lt"/>
                <a:cs typeface="+mn-lt"/>
              </a:rPr>
              <a:t>Sanchit Singhal</a:t>
            </a:r>
          </a:p>
          <a:p>
            <a:pPr>
              <a:spcBef>
                <a:spcPct val="0"/>
              </a:spcBef>
              <a:defRPr/>
            </a:pPr>
            <a:r>
              <a:rPr lang="en-AU" sz="14400" b="1" dirty="0">
                <a:solidFill>
                  <a:schemeClr val="bg1"/>
                </a:solidFill>
                <a:ea typeface="+mn-lt"/>
                <a:cs typeface="+mn-lt"/>
              </a:rPr>
              <a:t>ssin0398@uni.sydney.edu.au</a:t>
            </a:r>
            <a:endParaRPr lang="en-AU" sz="192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  <a:defRPr/>
            </a:pPr>
            <a:endParaRPr lang="en-AU" sz="192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  <a:defRPr/>
            </a:pPr>
            <a:endParaRPr lang="en-AU" sz="65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  <a:defRPr/>
            </a:pPr>
            <a:r>
              <a:rPr lang="en-US" sz="7100" b="1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endParaRPr lang="en-AU" sz="7100" b="1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E4A1C39-7039-06AC-163D-A82BD9F8F791}"/>
              </a:ext>
            </a:extLst>
          </p:cNvPr>
          <p:cNvSpPr txBox="1">
            <a:spLocks/>
          </p:cNvSpPr>
          <p:nvPr/>
        </p:nvSpPr>
        <p:spPr>
          <a:xfrm>
            <a:off x="1008000" y="4523494"/>
            <a:ext cx="10441746" cy="605632"/>
          </a:xfrm>
          <a:custGeom>
            <a:avLst/>
            <a:gdLst>
              <a:gd name="connsiteX0" fmla="*/ 0 w 22590031"/>
              <a:gd name="connsiteY0" fmla="*/ 0 h 4495162"/>
              <a:gd name="connsiteX1" fmla="*/ 22590031 w 22590031"/>
              <a:gd name="connsiteY1" fmla="*/ 0 h 4495162"/>
              <a:gd name="connsiteX2" fmla="*/ 22590031 w 22590031"/>
              <a:gd name="connsiteY2" fmla="*/ 4495162 h 4495162"/>
              <a:gd name="connsiteX3" fmla="*/ 0 w 22590031"/>
              <a:gd name="connsiteY3" fmla="*/ 4495162 h 4495162"/>
              <a:gd name="connsiteX4" fmla="*/ 0 w 22590031"/>
              <a:gd name="connsiteY4" fmla="*/ 0 h 4495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90031" h="4495162">
                <a:moveTo>
                  <a:pt x="0" y="0"/>
                </a:moveTo>
                <a:lnTo>
                  <a:pt x="22590031" y="0"/>
                </a:lnTo>
                <a:lnTo>
                  <a:pt x="22590031" y="4495162"/>
                </a:lnTo>
                <a:lnTo>
                  <a:pt x="0" y="4495162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72000" tIns="213576" rIns="427153" bIns="213576" rtlCol="0" anchor="ctr" anchorCtr="0">
            <a:normAutofit fontScale="25000" lnSpcReduction="20000"/>
          </a:bodyPr>
          <a:lstStyle/>
          <a:p>
            <a:pPr>
              <a:spcBef>
                <a:spcPct val="0"/>
              </a:spcBef>
              <a:defRPr/>
            </a:pPr>
            <a:r>
              <a:rPr lang="en-AU" sz="19200" b="1" dirty="0">
                <a:solidFill>
                  <a:schemeClr val="bg1"/>
                </a:solidFill>
                <a:ea typeface="+mn-lt"/>
                <a:cs typeface="+mn-lt"/>
              </a:rPr>
              <a:t>Akshat Mathur</a:t>
            </a:r>
          </a:p>
          <a:p>
            <a:pPr>
              <a:spcBef>
                <a:spcPct val="0"/>
              </a:spcBef>
              <a:defRPr/>
            </a:pPr>
            <a:r>
              <a:rPr lang="en-AU" sz="14400" b="1" dirty="0">
                <a:solidFill>
                  <a:schemeClr val="bg1"/>
                </a:solidFill>
                <a:ea typeface="+mn-lt"/>
                <a:cs typeface="+mn-lt"/>
              </a:rPr>
              <a:t>amat0369@uni.sydney.edu.au</a:t>
            </a:r>
            <a:endParaRPr lang="en-AU" sz="192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  <a:defRPr/>
            </a:pPr>
            <a:endParaRPr lang="en-AU" sz="65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  <a:defRPr/>
            </a:pPr>
            <a:r>
              <a:rPr lang="en-US" sz="7100" b="1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endParaRPr lang="en-AU" sz="7100" b="1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145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USYD_conference poster templates PORTRAIT_R[2]">
  <a:themeElements>
    <a:clrScheme name="USY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E1126"/>
      </a:accent1>
      <a:accent2>
        <a:srgbClr val="12416C"/>
      </a:accent2>
      <a:accent3>
        <a:srgbClr val="F9B72C"/>
      </a:accent3>
      <a:accent4>
        <a:srgbClr val="FBCD6B"/>
      </a:accent4>
      <a:accent5>
        <a:srgbClr val="006699"/>
      </a:accent5>
      <a:accent6>
        <a:srgbClr val="361D2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Poster-template</Template>
  <TotalTime>1103</TotalTime>
  <Words>513</Words>
  <Application>Microsoft Macintosh PowerPoint</Application>
  <PresentationFormat>Custom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USYD_conference poster templates PORTRAIT_R[2]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Zhiyong WANG</dc:creator>
  <cp:lastModifiedBy>Akshat Mathur</cp:lastModifiedBy>
  <cp:revision>5</cp:revision>
  <dcterms:created xsi:type="dcterms:W3CDTF">2019-01-25T01:49:48Z</dcterms:created>
  <dcterms:modified xsi:type="dcterms:W3CDTF">2026-10-25T00:39:29Z</dcterms:modified>
</cp:coreProperties>
</file>